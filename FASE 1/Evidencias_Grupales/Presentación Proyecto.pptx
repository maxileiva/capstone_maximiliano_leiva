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iIFECCDN4gRIPbn0pKLTbJ8p4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A457C0-6F4A-4697-8512-B3185520D088}">
  <a:tblStyle styleId="{B6A457C0-6F4A-4697-8512-B3185520D0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b2a60e9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8b2a60e92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8b2a60e9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8b2a60e92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b2a60e9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8b2a60e92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11" Type="http://schemas.openxmlformats.org/officeDocument/2006/relationships/image" Target="../media/image7.png"/><Relationship Id="rId10" Type="http://schemas.openxmlformats.org/officeDocument/2006/relationships/image" Target="../media/image3.png"/><Relationship Id="rId12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6.png"/><Relationship Id="rId13" Type="http://schemas.openxmlformats.org/officeDocument/2006/relationships/image" Target="../media/image31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9" Type="http://schemas.openxmlformats.org/officeDocument/2006/relationships/image" Target="../media/image36.png"/><Relationship Id="rId1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24720"/>
            <a:ext cx="11049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571500" y="1882223"/>
            <a:ext cx="4770900" cy="533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04850" y="1939375"/>
            <a:ext cx="463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PTY4614 · CAPSTONE · FASE 1: DEFINICIÓN DE PROYECTO</a:t>
            </a:r>
            <a:endParaRPr sz="1700"/>
          </a:p>
        </p:txBody>
      </p:sp>
      <p:sp>
        <p:nvSpPr>
          <p:cNvPr id="88" name="Google Shape;88;p1"/>
          <p:cNvSpPr/>
          <p:nvPr/>
        </p:nvSpPr>
        <p:spPr>
          <a:xfrm>
            <a:off x="571500" y="1882229"/>
            <a:ext cx="38100" cy="3143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71500" y="2387054"/>
            <a:ext cx="10001250" cy="1007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Ecosistema Digital de Cotización y Gestión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Ventanas y Espejos Manuel Arellano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71500" y="3638932"/>
            <a:ext cx="9048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Plataforma Web interactiva y Aplicación Móvil en </a:t>
            </a:r>
            <a:r>
              <a:rPr b="1" i="0" lang="en-US" sz="1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Kotlin</a:t>
            </a:r>
            <a:r>
              <a:rPr b="0" i="0" lang="en-US" sz="1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(Usuarios y Técnicos) con arquitectura Backend unificada en </a:t>
            </a:r>
            <a:r>
              <a:rPr b="1" i="0" lang="en-US" sz="1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 / Django</a:t>
            </a:r>
            <a:r>
              <a:rPr b="0" i="0" lang="en-US" sz="1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/>
          </a:p>
        </p:txBody>
      </p:sp>
      <p:sp>
        <p:nvSpPr>
          <p:cNvPr id="91" name="Google Shape;91;p1"/>
          <p:cNvSpPr txBox="1"/>
          <p:nvPr/>
        </p:nvSpPr>
        <p:spPr>
          <a:xfrm>
            <a:off x="571500" y="4585250"/>
            <a:ext cx="2970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5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Maximiliano Andrés Leiva Rozas</a:t>
            </a:r>
            <a:r>
              <a:rPr b="0" i="0" lang="en-US" sz="15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Ingeniería en Informática</a:t>
            </a:r>
            <a:endParaRPr sz="1800"/>
          </a:p>
        </p:txBody>
      </p:sp>
      <p:sp>
        <p:nvSpPr>
          <p:cNvPr id="92" name="Google Shape;92;p1"/>
          <p:cNvSpPr txBox="1"/>
          <p:nvPr/>
        </p:nvSpPr>
        <p:spPr>
          <a:xfrm>
            <a:off x="3616275" y="4585225"/>
            <a:ext cx="24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Martin Ignacio Carriel Galaz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Ingeniería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en Informática</a:t>
            </a:r>
            <a:endParaRPr sz="1500"/>
          </a:p>
        </p:txBody>
      </p:sp>
      <p:sp>
        <p:nvSpPr>
          <p:cNvPr id="93" name="Google Shape;93;p1"/>
          <p:cNvSpPr txBox="1"/>
          <p:nvPr/>
        </p:nvSpPr>
        <p:spPr>
          <a:xfrm>
            <a:off x="6300325" y="4585225"/>
            <a:ext cx="3473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5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Duoc UC · Sede Plaza Norte</a:t>
            </a:r>
            <a:r>
              <a:rPr b="0" i="0" lang="en-US" sz="15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Escuela de Informática y Telecomunicaciones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3875"/>
            <a:ext cx="5512050" cy="388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75" y="1853875"/>
            <a:ext cx="5357825" cy="38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725850" y="2068025"/>
            <a:ext cx="5357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Canales Informales y Descentralizados</a:t>
            </a:r>
            <a:endParaRPr sz="1700"/>
          </a:p>
        </p:txBody>
      </p:sp>
      <p:sp>
        <p:nvSpPr>
          <p:cNvPr id="102" name="Google Shape;102;p2"/>
          <p:cNvSpPr txBox="1"/>
          <p:nvPr/>
        </p:nvSpPr>
        <p:spPr>
          <a:xfrm>
            <a:off x="866775" y="2772612"/>
            <a:ext cx="4767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cotizaciones y solicitudes de compra se efectúan por WhatsApp y llamadas sin registro central, lo que genera saturación en la atención y pérdida de datos clave.</a:t>
            </a:r>
            <a:endParaRPr sz="1800"/>
          </a:p>
        </p:txBody>
      </p:sp>
      <p:sp>
        <p:nvSpPr>
          <p:cNvPr id="103" name="Google Shape;103;p2"/>
          <p:cNvSpPr txBox="1"/>
          <p:nvPr/>
        </p:nvSpPr>
        <p:spPr>
          <a:xfrm>
            <a:off x="866775" y="4344637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xiste escasa autonomía: los clientes no pueden personalizar perfiles de aluminio o termopanel de forma autónoma con visualización de costos.</a:t>
            </a:r>
            <a:endParaRPr sz="1800"/>
          </a:p>
        </p:txBody>
      </p:sp>
      <p:sp>
        <p:nvSpPr>
          <p:cNvPr id="104" name="Google Shape;104;p2"/>
          <p:cNvSpPr txBox="1"/>
          <p:nvPr/>
        </p:nvSpPr>
        <p:spPr>
          <a:xfrm>
            <a:off x="6557962" y="2068037"/>
            <a:ext cx="5005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Falta de Trazabilidad en Terreno</a:t>
            </a:r>
            <a:endParaRPr sz="1700"/>
          </a:p>
        </p:txBody>
      </p:sp>
      <p:sp>
        <p:nvSpPr>
          <p:cNvPr id="105" name="Google Shape;105;p2"/>
          <p:cNvSpPr txBox="1"/>
          <p:nvPr/>
        </p:nvSpPr>
        <p:spPr>
          <a:xfrm>
            <a:off x="6557949" y="2772600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personal técnico de la empresa no cuenta con una herramienta móvil sincronizada para registrar y rectificar medidas  de manera inmediata.</a:t>
            </a:r>
            <a:endParaRPr sz="16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557962" y="4119562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tiempos de respuesta aumentan considerablemente al reingresar manualmente datos de medición, generando discrepancias operativas.</a:t>
            </a:r>
            <a:endParaRPr sz="16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850" y="21134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962" y="21134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571500" y="476250"/>
            <a:ext cx="11601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El Problema de Negocio</a:t>
            </a:r>
            <a:endParaRPr sz="2500"/>
          </a:p>
        </p:txBody>
      </p:sp>
      <p:sp>
        <p:nvSpPr>
          <p:cNvPr id="110" name="Google Shape;110;p2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571500" y="476250"/>
            <a:ext cx="560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La Solución Propuesta</a:t>
            </a:r>
            <a:endParaRPr sz="1900"/>
          </a:p>
        </p:txBody>
      </p:sp>
      <p:pic>
        <p:nvPicPr>
          <p:cNvPr descr="image.png"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/>
          <p:nvPr/>
        </p:nvSpPr>
        <p:spPr>
          <a:xfrm>
            <a:off x="29527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71500" y="1310725"/>
            <a:ext cx="5334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de un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Ecosistema Multiplataforma Integral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 centraliza y digitaliza todo el ciclo de cotización, validación y rectificación de productos de vidrio y aluminio.</a:t>
            </a:r>
            <a:endParaRPr sz="1800"/>
          </a:p>
        </p:txBody>
      </p:sp>
      <p:sp>
        <p:nvSpPr>
          <p:cNvPr id="120" name="Google Shape;120;p3"/>
          <p:cNvSpPr txBox="1"/>
          <p:nvPr/>
        </p:nvSpPr>
        <p:spPr>
          <a:xfrm>
            <a:off x="571500" y="2868475"/>
            <a:ext cx="5334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compone de un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Portal Web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clientes, una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 Móvil nativa en Kotlin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perfiles para clientes y personal técnico en terreno, y un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Backend centralizado en Django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/>
          </a:p>
        </p:txBody>
      </p:sp>
      <p:sp>
        <p:nvSpPr>
          <p:cNvPr id="121" name="Google Shape;121;p3"/>
          <p:cNvSpPr txBox="1"/>
          <p:nvPr/>
        </p:nvSpPr>
        <p:spPr>
          <a:xfrm>
            <a:off x="571500" y="4388550"/>
            <a:ext cx="5334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Garantiza autonomía para el usuario final, agilidad para los maestros instaladores y control operativo total para la administración de la empresa.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9225"/>
            <a:ext cx="3543300" cy="28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2339225"/>
            <a:ext cx="3543300" cy="28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2339225"/>
            <a:ext cx="3543300" cy="28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518469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809625" y="3143244"/>
            <a:ext cx="322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b="1" i="0" lang="en-US" sz="180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lataform</a:t>
            </a:r>
            <a:r>
              <a:rPr b="1" i="0" lang="en-US" sz="180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a Web</a:t>
            </a:r>
            <a:endParaRPr sz="1800"/>
          </a:p>
        </p:txBody>
      </p:sp>
      <p:sp>
        <p:nvSpPr>
          <p:cNvPr id="132" name="Google Shape;132;p4"/>
          <p:cNvSpPr txBox="1"/>
          <p:nvPr/>
        </p:nvSpPr>
        <p:spPr>
          <a:xfrm>
            <a:off x="809475" y="3549919"/>
            <a:ext cx="30672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Portal web dinámico para navegación de catálogo (Aluminio, PVC, Termopanel), calculadora de cotizaciones automáticas, registro de usuarios y solicitud de visitas.</a:t>
            </a:r>
            <a:endParaRPr sz="1700"/>
          </a:p>
        </p:txBody>
      </p:sp>
      <p:pic>
        <p:nvPicPr>
          <p:cNvPr descr="image.png" id="133" name="Google Shape;13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2475" y="2518469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5325" y="2518469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8238650" y="3138969"/>
            <a:ext cx="322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Backend Django API</a:t>
            </a:r>
            <a:endParaRPr sz="1700"/>
          </a:p>
        </p:txBody>
      </p:sp>
      <p:sp>
        <p:nvSpPr>
          <p:cNvPr id="136" name="Google Shape;136;p4"/>
          <p:cNvSpPr txBox="1"/>
          <p:nvPr/>
        </p:nvSpPr>
        <p:spPr>
          <a:xfrm>
            <a:off x="8315325" y="3541369"/>
            <a:ext cx="30672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Servidor centralizado en Python/Django que gestiona la lógica de cálculo de precios, autenticación segura por tokens y sincronización de datos con base de datos relacional.</a:t>
            </a:r>
            <a:endParaRPr/>
          </a:p>
        </p:txBody>
      </p:sp>
      <p:pic>
        <p:nvPicPr>
          <p:cNvPr descr="image.png" id="137" name="Google Shape;13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3450" y="264229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4875" y="2642294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9150" y="264229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571500" y="476250"/>
            <a:ext cx="11601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Pilares del Ecosistema Tecnológico</a:t>
            </a:r>
            <a:endParaRPr sz="2200"/>
          </a:p>
        </p:txBody>
      </p:sp>
      <p:sp>
        <p:nvSpPr>
          <p:cNvPr id="141" name="Google Shape;141;p4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4562388" y="3549919"/>
            <a:ext cx="30672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plicación Android nativa con doble rol: clientes para seguimiento de estado, y personal técnico para rectificación de medidas en terreno y carga de evidencias.</a:t>
            </a:r>
            <a:r>
              <a:rPr b="0" i="0" lang="en-US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4485750" y="3143244"/>
            <a:ext cx="322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App Móvil Kotlin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50" y="2284174"/>
            <a:ext cx="5357799" cy="360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800" y="2321100"/>
            <a:ext cx="5357799" cy="35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866775" y="2719387"/>
            <a:ext cx="5005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Portal &amp; App Clientes</a:t>
            </a:r>
            <a:endParaRPr sz="1800"/>
          </a:p>
        </p:txBody>
      </p:sp>
      <p:sp>
        <p:nvSpPr>
          <p:cNvPr id="152" name="Google Shape;152;p5"/>
          <p:cNvSpPr txBox="1"/>
          <p:nvPr/>
        </p:nvSpPr>
        <p:spPr>
          <a:xfrm>
            <a:off x="866775" y="3332512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Catálogo y Cotizador: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Selección de tipos de cristal, marcos y medidas exactas (alto/ancho).</a:t>
            </a:r>
            <a:endParaRPr sz="1800"/>
          </a:p>
        </p:txBody>
      </p:sp>
      <p:sp>
        <p:nvSpPr>
          <p:cNvPr id="153" name="Google Shape;153;p5"/>
          <p:cNvSpPr txBox="1"/>
          <p:nvPr/>
        </p:nvSpPr>
        <p:spPr>
          <a:xfrm>
            <a:off x="866775" y="4126087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Autogestión de Cuenta: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Historial de cotizaciones, descargas de presupuesto y estado de solicitudes.</a:t>
            </a:r>
            <a:endParaRPr sz="1800"/>
          </a:p>
        </p:txBody>
      </p:sp>
      <p:sp>
        <p:nvSpPr>
          <p:cNvPr id="154" name="Google Shape;154;p5"/>
          <p:cNvSpPr txBox="1"/>
          <p:nvPr/>
        </p:nvSpPr>
        <p:spPr>
          <a:xfrm>
            <a:off x="866775" y="4919662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Contacto y Soporte: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Canal directo para agendar rectificaciones de medidas domiciliarias.</a:t>
            </a:r>
            <a:endParaRPr sz="1800"/>
          </a:p>
        </p:txBody>
      </p:sp>
      <p:sp>
        <p:nvSpPr>
          <p:cNvPr id="155" name="Google Shape;155;p5"/>
          <p:cNvSpPr txBox="1"/>
          <p:nvPr/>
        </p:nvSpPr>
        <p:spPr>
          <a:xfrm>
            <a:off x="6557962" y="2719387"/>
            <a:ext cx="5005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App Móvil Personal Técnico</a:t>
            </a:r>
            <a:endParaRPr sz="1800"/>
          </a:p>
        </p:txBody>
      </p:sp>
      <p:sp>
        <p:nvSpPr>
          <p:cNvPr id="156" name="Google Shape;156;p5"/>
          <p:cNvSpPr txBox="1"/>
          <p:nvPr/>
        </p:nvSpPr>
        <p:spPr>
          <a:xfrm>
            <a:off x="6557962" y="3148012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Agenda de Visitas: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Visualización de órdenes de trabajo y rutas de rectificación asignadas.</a:t>
            </a:r>
            <a:endParaRPr sz="1800"/>
          </a:p>
        </p:txBody>
      </p:sp>
      <p:sp>
        <p:nvSpPr>
          <p:cNvPr id="157" name="Google Shape;157;p5"/>
          <p:cNvSpPr txBox="1"/>
          <p:nvPr/>
        </p:nvSpPr>
        <p:spPr>
          <a:xfrm>
            <a:off x="6557962" y="3976687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Formulario de Medición: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Ajuste y confirmación de cotas en terreno con validación técnica.</a:t>
            </a:r>
            <a:endParaRPr sz="1800"/>
          </a:p>
        </p:txBody>
      </p:sp>
      <p:sp>
        <p:nvSpPr>
          <p:cNvPr id="158" name="Google Shape;158;p5"/>
          <p:cNvSpPr txBox="1"/>
          <p:nvPr/>
        </p:nvSpPr>
        <p:spPr>
          <a:xfrm>
            <a:off x="6557962" y="4805362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Registro Fotográfico: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Carga de evidencia de vanos e instalaciones directamente al backend.</a:t>
            </a:r>
            <a:endParaRPr sz="1800"/>
          </a:p>
        </p:txBody>
      </p:sp>
      <p:pic>
        <p:nvPicPr>
          <p:cNvPr descr="image.png" id="159" name="Google Shape;15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767012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962" y="276701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571500" y="476250"/>
            <a:ext cx="11601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Alcance Funcional por Perfil</a:t>
            </a:r>
            <a:endParaRPr sz="2200"/>
          </a:p>
        </p:txBody>
      </p:sp>
      <p:sp>
        <p:nvSpPr>
          <p:cNvPr id="162" name="Google Shape;162;p5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571500" y="2134972"/>
            <a:ext cx="11049000" cy="784500"/>
          </a:xfrm>
          <a:prstGeom prst="roundRect">
            <a:avLst>
              <a:gd fmla="val 112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047750" y="2276087"/>
            <a:ext cx="10401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Objetivo General: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Diseñar e implementar un ecosistema digital compuesto por una plataforma web, aplicación móvil nativa en Kotlin y backend centralizado en Django para optimizar el proceso de cotización y rectificación de medidas.</a:t>
            </a:r>
            <a:endParaRPr sz="1700"/>
          </a:p>
        </p:txBody>
      </p:sp>
      <p:sp>
        <p:nvSpPr>
          <p:cNvPr id="170" name="Google Shape;170;p6"/>
          <p:cNvSpPr/>
          <p:nvPr/>
        </p:nvSpPr>
        <p:spPr>
          <a:xfrm>
            <a:off x="571500" y="3033712"/>
            <a:ext cx="11049000" cy="462000"/>
          </a:xfrm>
          <a:prstGeom prst="roundRect">
            <a:avLst>
              <a:gd fmla="val 164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1047750" y="3148012"/>
            <a:ext cx="10401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OE 1 - Análisis: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Levantar requerimientos del negocio para usuarios finales, personal de terreno y administradores de la empresa.</a:t>
            </a:r>
            <a:endParaRPr sz="1700"/>
          </a:p>
        </p:txBody>
      </p:sp>
      <p:sp>
        <p:nvSpPr>
          <p:cNvPr id="172" name="Google Shape;172;p6"/>
          <p:cNvSpPr/>
          <p:nvPr/>
        </p:nvSpPr>
        <p:spPr>
          <a:xfrm>
            <a:off x="571500" y="3609975"/>
            <a:ext cx="11049000" cy="462000"/>
          </a:xfrm>
          <a:prstGeom prst="roundRect">
            <a:avLst>
              <a:gd fmla="val 164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1047750" y="3724275"/>
            <a:ext cx="10401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OE 2 - Arquitectura &amp; Datos: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Modelar la base de datos relacional y definir la API REST unificada en Django REST Framework.</a:t>
            </a:r>
            <a:endParaRPr sz="1700"/>
          </a:p>
        </p:txBody>
      </p:sp>
      <p:sp>
        <p:nvSpPr>
          <p:cNvPr id="174" name="Google Shape;174;p6"/>
          <p:cNvSpPr/>
          <p:nvPr/>
        </p:nvSpPr>
        <p:spPr>
          <a:xfrm>
            <a:off x="571500" y="4186237"/>
            <a:ext cx="11049000" cy="462000"/>
          </a:xfrm>
          <a:prstGeom prst="roundRect">
            <a:avLst>
              <a:gd fmla="val 164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1047750" y="4300537"/>
            <a:ext cx="10401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OE 3 - Desarrollo Multiplataforma: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Construir el frontend web interactivo y la app móvil Android en Kotlin para usuarios y técnicos.</a:t>
            </a:r>
            <a:endParaRPr sz="1700"/>
          </a:p>
        </p:txBody>
      </p:sp>
      <p:sp>
        <p:nvSpPr>
          <p:cNvPr id="176" name="Google Shape;176;p6"/>
          <p:cNvSpPr/>
          <p:nvPr/>
        </p:nvSpPr>
        <p:spPr>
          <a:xfrm>
            <a:off x="571500" y="4762500"/>
            <a:ext cx="11049000" cy="462000"/>
          </a:xfrm>
          <a:prstGeom prst="roundRect">
            <a:avLst>
              <a:gd fmla="val 164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1047750" y="4876800"/>
            <a:ext cx="10401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OE 4 - Verificación &amp; Despliegue: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Ejecutar pruebas funcionales de integración y documentar manuales de usuario y técnicos.</a:t>
            </a:r>
            <a:endParaRPr sz="1700"/>
          </a:p>
        </p:txBody>
      </p:sp>
      <p:sp>
        <p:nvSpPr>
          <p:cNvPr id="178" name="Google Shape;178;p6"/>
          <p:cNvSpPr/>
          <p:nvPr/>
        </p:nvSpPr>
        <p:spPr>
          <a:xfrm>
            <a:off x="571500" y="29098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71500" y="34861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71500" y="40624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71500" y="52149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2390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31813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375761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43338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491013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571500" y="476250"/>
            <a:ext cx="11601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sz="2500"/>
          </a:p>
        </p:txBody>
      </p:sp>
      <p:sp>
        <p:nvSpPr>
          <p:cNvPr id="189" name="Google Shape;189;p6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g3f8b2a60e92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f8b2a60e92_0_29"/>
          <p:cNvSpPr txBox="1"/>
          <p:nvPr/>
        </p:nvSpPr>
        <p:spPr>
          <a:xfrm>
            <a:off x="571500" y="476250"/>
            <a:ext cx="11601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50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Stack Tecnologico Integrado</a:t>
            </a:r>
            <a:endParaRPr sz="2200"/>
          </a:p>
        </p:txBody>
      </p:sp>
      <p:sp>
        <p:nvSpPr>
          <p:cNvPr id="196" name="Google Shape;196;g3f8b2a60e92_0_29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g3f8b2a60e92_0_29"/>
          <p:cNvGraphicFramePr/>
          <p:nvPr/>
        </p:nvGraphicFramePr>
        <p:xfrm>
          <a:off x="571500" y="1388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{B6A457C0-6F4A-4697-8512-B3185520D088}</a:tableStyleId>
              </a:tblPr>
              <a:tblGrid>
                <a:gridCol w="1344225"/>
                <a:gridCol w="1824925"/>
                <a:gridCol w="4449375"/>
                <a:gridCol w="3430500"/>
              </a:tblGrid>
              <a:tr h="8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7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Capa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7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Tecnología Principal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7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Propósito en el Proyecto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7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Beneficio Clave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8"/>
                    </a:solidFill>
                  </a:tcPr>
                </a:tc>
              </a:tr>
              <a:tr h="878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 Web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HTML5, CSS3, JavaScript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Interfaz web para cotización de clientes y panel de administración.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Accesibilidad universal sin instalación previa.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 (Android)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Kotlin / Jetpack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 para clientes y módulo de campo para personal técnico de instalación.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Rendimiento nativo y uso de hardware (cámara/GPS).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 &amp; API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 / Django / DRF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Lógica de negocio, cálculo paramétrico </a:t>
                      </a:r>
                      <a:r>
                        <a:rPr lang="en-US" sz="16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</a:t>
                      </a: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endpoints REST.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Seguridad robusta, escalabilidad y rapidez de desarrollo.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 de Datos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PostgreSQL / SQLite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Almacenamiento de catálogos, fórmulas de vidrio, usuarios y estados.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Integridad referencial y soporte transaccional.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7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DevOps &amp; Control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Git / GitHub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de versiones, ramas por módulos e integración continua.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Trazabilidad total del código colaborativo.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g3f8b2a60e92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g3f8b2a60e92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50" y="2284174"/>
            <a:ext cx="5357799" cy="360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g3f8b2a60e92_0_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800" y="2321100"/>
            <a:ext cx="5357799" cy="35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8b2a60e92_0_48"/>
          <p:cNvSpPr txBox="1"/>
          <p:nvPr/>
        </p:nvSpPr>
        <p:spPr>
          <a:xfrm>
            <a:off x="866775" y="2719387"/>
            <a:ext cx="5005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Servicios API REST (Django)</a:t>
            </a:r>
            <a:endParaRPr sz="2200"/>
          </a:p>
        </p:txBody>
      </p:sp>
      <p:sp>
        <p:nvSpPr>
          <p:cNvPr id="206" name="Google Shape;206;g3f8b2a60e92_0_48"/>
          <p:cNvSpPr txBox="1"/>
          <p:nvPr/>
        </p:nvSpPr>
        <p:spPr>
          <a:xfrm>
            <a:off x="6557962" y="2719387"/>
            <a:ext cx="5005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Sincronización Web y Móvil</a:t>
            </a:r>
            <a:endParaRPr sz="2200"/>
          </a:p>
        </p:txBody>
      </p:sp>
      <p:sp>
        <p:nvSpPr>
          <p:cNvPr id="207" name="Google Shape;207;g3f8b2a60e92_0_48"/>
          <p:cNvSpPr txBox="1"/>
          <p:nvPr/>
        </p:nvSpPr>
        <p:spPr>
          <a:xfrm>
            <a:off x="6557962" y="3148012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Cualquier cotización generada en el portal Web es accesible de inmediato en la App Kotlin del cliente para su seguimiento.</a:t>
            </a:r>
            <a:endParaRPr sz="2200"/>
          </a:p>
        </p:txBody>
      </p:sp>
      <p:sp>
        <p:nvSpPr>
          <p:cNvPr id="208" name="Google Shape;208;g3f8b2a60e92_0_48"/>
          <p:cNvSpPr txBox="1"/>
          <p:nvPr/>
        </p:nvSpPr>
        <p:spPr>
          <a:xfrm>
            <a:off x="6557962" y="4317712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Cuando el técnico rectifica las medidas en su móvil, el backend recalcula el costo final y notifica al cliente y al taller automáticamente.</a:t>
            </a:r>
            <a:endParaRPr sz="2200"/>
          </a:p>
        </p:txBody>
      </p:sp>
      <p:sp>
        <p:nvSpPr>
          <p:cNvPr id="209" name="Google Shape;209;g3f8b2a60e92_0_48"/>
          <p:cNvSpPr txBox="1"/>
          <p:nvPr/>
        </p:nvSpPr>
        <p:spPr>
          <a:xfrm>
            <a:off x="571500" y="476250"/>
            <a:ext cx="11601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50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Arquitectura y Flujo de Información</a:t>
            </a:r>
            <a:endParaRPr b="1" sz="3350">
              <a:solidFill>
                <a:srgbClr val="0F2B4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g3f8b2a60e92_0_48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g3f8b2a60e92_0_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500" y="2772412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8b2a60e92_0_48"/>
          <p:cNvSpPr txBox="1"/>
          <p:nvPr/>
        </p:nvSpPr>
        <p:spPr>
          <a:xfrm>
            <a:off x="788500" y="3148000"/>
            <a:ext cx="4767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backend en Django actúa como el núcleo centralizado mediante endpoints JSON protegidos con autenticación JWT.</a:t>
            </a:r>
            <a:endParaRPr sz="1800"/>
          </a:p>
        </p:txBody>
      </p:sp>
      <p:sp>
        <p:nvSpPr>
          <p:cNvPr id="213" name="Google Shape;213;g3f8b2a60e92_0_48"/>
          <p:cNvSpPr txBox="1"/>
          <p:nvPr/>
        </p:nvSpPr>
        <p:spPr>
          <a:xfrm>
            <a:off x="788500" y="4343500"/>
            <a:ext cx="4767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Gestiona la lógica paramétrica de costos (m² de cristal templado, termopanel, herrajes y perfiles de PVC/aluminio) de forma unificada para todos los clientes.</a:t>
            </a:r>
            <a:endParaRPr sz="2200"/>
          </a:p>
        </p:txBody>
      </p:sp>
      <p:pic>
        <p:nvPicPr>
          <p:cNvPr descr="image.png" id="214" name="Google Shape;214;g3f8b2a60e92_0_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797" y="2759822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3150" y="733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200" y="2211848"/>
            <a:ext cx="2605075" cy="359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1000" y="2211848"/>
            <a:ext cx="2605075" cy="359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0750" y="2211848"/>
            <a:ext cx="2605075" cy="359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7025" y="2211850"/>
            <a:ext cx="2787150" cy="359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350" y="2370550"/>
            <a:ext cx="546674" cy="75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809625" y="3298031"/>
            <a:ext cx="223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Desarrollo de Software</a:t>
            </a:r>
            <a:endParaRPr sz="1800"/>
          </a:p>
        </p:txBody>
      </p:sp>
      <p:sp>
        <p:nvSpPr>
          <p:cNvPr id="226" name="Google Shape;226;p9"/>
          <p:cNvSpPr txBox="1"/>
          <p:nvPr/>
        </p:nvSpPr>
        <p:spPr>
          <a:xfrm>
            <a:off x="809625" y="3964775"/>
            <a:ext cx="22353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Construcción modular de aplicaciones web y móviles nativas en Kotlin integradas mediante arquitectura de microservicios o API REST.</a:t>
            </a:r>
            <a:endParaRPr sz="1800"/>
          </a:p>
        </p:txBody>
      </p:sp>
      <p:pic>
        <p:nvPicPr>
          <p:cNvPr descr="image.png" id="227" name="Google Shape;227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5545" y="2370550"/>
            <a:ext cx="546674" cy="75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 txBox="1"/>
          <p:nvPr/>
        </p:nvSpPr>
        <p:spPr>
          <a:xfrm>
            <a:off x="3591375" y="3254431"/>
            <a:ext cx="223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Modelos de Datos</a:t>
            </a:r>
            <a:endParaRPr sz="1800"/>
          </a:p>
        </p:txBody>
      </p:sp>
      <p:sp>
        <p:nvSpPr>
          <p:cNvPr id="229" name="Google Shape;229;p9"/>
          <p:cNvSpPr txBox="1"/>
          <p:nvPr/>
        </p:nvSpPr>
        <p:spPr>
          <a:xfrm>
            <a:off x="3624249" y="3679025"/>
            <a:ext cx="2235300" cy="18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Diseño de esquemas relacionales normalizados que gestionan reglas complejas de medidas, tolerancias y listas de precios dinámicas.</a:t>
            </a:r>
            <a:endParaRPr sz="1800"/>
          </a:p>
        </p:txBody>
      </p:sp>
      <p:pic>
        <p:nvPicPr>
          <p:cNvPr descr="image.png" id="230" name="Google Shape;23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1978" y="2370550"/>
            <a:ext cx="546674" cy="75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 txBox="1"/>
          <p:nvPr/>
        </p:nvSpPr>
        <p:spPr>
          <a:xfrm>
            <a:off x="6310200" y="3254425"/>
            <a:ext cx="249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Pruebas y Calidad</a:t>
            </a:r>
            <a:endParaRPr sz="1800"/>
          </a:p>
        </p:txBody>
      </p:sp>
      <p:sp>
        <p:nvSpPr>
          <p:cNvPr id="232" name="Google Shape;232;p9"/>
          <p:cNvSpPr txBox="1"/>
          <p:nvPr/>
        </p:nvSpPr>
        <p:spPr>
          <a:xfrm>
            <a:off x="6438900" y="3679025"/>
            <a:ext cx="2235300" cy="18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Diseño y ejecución de casos de prueba unitarios, de integración y aceptación para asegurar la consistencia de cálculos matemáticos.</a:t>
            </a:r>
            <a:endParaRPr sz="1800"/>
          </a:p>
        </p:txBody>
      </p:sp>
      <p:pic>
        <p:nvPicPr>
          <p:cNvPr descr="image.png" id="233" name="Google Shape;23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62598" y="2370550"/>
            <a:ext cx="546674" cy="75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 txBox="1"/>
          <p:nvPr/>
        </p:nvSpPr>
        <p:spPr>
          <a:xfrm>
            <a:off x="9253525" y="3298025"/>
            <a:ext cx="293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Gestión de Proyectos</a:t>
            </a:r>
            <a:endParaRPr sz="1800"/>
          </a:p>
        </p:txBody>
      </p:sp>
      <p:sp>
        <p:nvSpPr>
          <p:cNvPr id="235" name="Google Shape;235;p9"/>
          <p:cNvSpPr txBox="1"/>
          <p:nvPr/>
        </p:nvSpPr>
        <p:spPr>
          <a:xfrm>
            <a:off x="9253523" y="3679025"/>
            <a:ext cx="24927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Planificación iterativa e incremental con control de hitos, mitigación de riesgos técnicos y documentación formal de ingeniería.</a:t>
            </a:r>
            <a:endParaRPr sz="1800"/>
          </a:p>
        </p:txBody>
      </p:sp>
      <p:pic>
        <p:nvPicPr>
          <p:cNvPr descr="image.png" id="236" name="Google Shape;236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8873" y="2558494"/>
            <a:ext cx="346928" cy="375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77971" y="2558494"/>
            <a:ext cx="241798" cy="375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38647" y="2558494"/>
            <a:ext cx="273337" cy="375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99267" y="2558494"/>
            <a:ext cx="273337" cy="3758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 txBox="1"/>
          <p:nvPr/>
        </p:nvSpPr>
        <p:spPr>
          <a:xfrm>
            <a:off x="571500" y="476250"/>
            <a:ext cx="11601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Aporte al Perfil de Egreso</a:t>
            </a:r>
            <a:endParaRPr sz="2500"/>
          </a:p>
        </p:txBody>
      </p:sp>
      <p:sp>
        <p:nvSpPr>
          <p:cNvPr id="241" name="Google Shape;241;p9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71900"/>
            <a:ext cx="11049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36205"/>
            <a:ext cx="2430650" cy="125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44200" y="2292275"/>
            <a:ext cx="2618400" cy="135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6875" y="3886200"/>
            <a:ext cx="2430650" cy="135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9550" y="2270800"/>
            <a:ext cx="2430650" cy="135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670653" y="4061213"/>
            <a:ext cx="2232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1: Análisis</a:t>
            </a:r>
            <a:endParaRPr sz="1700"/>
          </a:p>
        </p:txBody>
      </p:sp>
      <p:sp>
        <p:nvSpPr>
          <p:cNvPr id="253" name="Google Shape;253;p10"/>
          <p:cNvSpPr txBox="1"/>
          <p:nvPr/>
        </p:nvSpPr>
        <p:spPr>
          <a:xfrm>
            <a:off x="723900" y="4467225"/>
            <a:ext cx="21258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Requerimientos de negocio, diagramas de caso de uso y arquitectura de datos.</a:t>
            </a:r>
            <a:endParaRPr sz="1700"/>
          </a:p>
        </p:txBody>
      </p:sp>
      <p:sp>
        <p:nvSpPr>
          <p:cNvPr id="254" name="Google Shape;254;p10"/>
          <p:cNvSpPr txBox="1"/>
          <p:nvPr/>
        </p:nvSpPr>
        <p:spPr>
          <a:xfrm>
            <a:off x="3637258" y="2401991"/>
            <a:ext cx="22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2: Backend Django</a:t>
            </a:r>
            <a:endParaRPr sz="1700"/>
          </a:p>
        </p:txBody>
      </p:sp>
      <p:sp>
        <p:nvSpPr>
          <p:cNvPr id="255" name="Google Shape;255;p10"/>
          <p:cNvSpPr txBox="1"/>
          <p:nvPr/>
        </p:nvSpPr>
        <p:spPr>
          <a:xfrm>
            <a:off x="3596601" y="2938150"/>
            <a:ext cx="23406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Modelos ORM, endpoints REST, motor de cálculo y lógica de autenticación.</a:t>
            </a:r>
            <a:endParaRPr sz="1700"/>
          </a:p>
        </p:txBody>
      </p:sp>
      <p:sp>
        <p:nvSpPr>
          <p:cNvPr id="256" name="Google Shape;256;p10"/>
          <p:cNvSpPr txBox="1"/>
          <p:nvPr/>
        </p:nvSpPr>
        <p:spPr>
          <a:xfrm>
            <a:off x="6416039" y="4061213"/>
            <a:ext cx="2232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3: Web &amp; Kotlin</a:t>
            </a:r>
            <a:endParaRPr sz="1700"/>
          </a:p>
        </p:txBody>
      </p:sp>
      <p:sp>
        <p:nvSpPr>
          <p:cNvPr id="257" name="Google Shape;257;p10"/>
          <p:cNvSpPr txBox="1"/>
          <p:nvPr/>
        </p:nvSpPr>
        <p:spPr>
          <a:xfrm>
            <a:off x="6469260" y="4467225"/>
            <a:ext cx="21258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Construcción de interfaces web y desarrollo de la app móvil para técnicos y clientes.</a:t>
            </a:r>
            <a:endParaRPr sz="1700"/>
          </a:p>
        </p:txBody>
      </p:sp>
      <p:sp>
        <p:nvSpPr>
          <p:cNvPr id="258" name="Google Shape;258;p10"/>
          <p:cNvSpPr txBox="1"/>
          <p:nvPr/>
        </p:nvSpPr>
        <p:spPr>
          <a:xfrm>
            <a:off x="9288719" y="2402003"/>
            <a:ext cx="2232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Fase 4: QA y Cierre</a:t>
            </a:r>
            <a:endParaRPr sz="1700"/>
          </a:p>
        </p:txBody>
      </p:sp>
      <p:sp>
        <p:nvSpPr>
          <p:cNvPr id="259" name="Google Shape;259;p10"/>
          <p:cNvSpPr txBox="1"/>
          <p:nvPr/>
        </p:nvSpPr>
        <p:spPr>
          <a:xfrm>
            <a:off x="9341966" y="2745903"/>
            <a:ext cx="21258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Pruebas de integración, correcciones, despliegue y documentación de entrega.</a:t>
            </a:r>
            <a:endParaRPr sz="1700"/>
          </a:p>
        </p:txBody>
      </p:sp>
      <p:sp>
        <p:nvSpPr>
          <p:cNvPr id="260" name="Google Shape;260;p10"/>
          <p:cNvSpPr txBox="1"/>
          <p:nvPr/>
        </p:nvSpPr>
        <p:spPr>
          <a:xfrm>
            <a:off x="571500" y="476250"/>
            <a:ext cx="11601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Planificación y Fases del Proyecto</a:t>
            </a:r>
            <a:endParaRPr sz="2500"/>
          </a:p>
        </p:txBody>
      </p:sp>
      <p:sp>
        <p:nvSpPr>
          <p:cNvPr id="261" name="Google Shape;261;p10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691580" y="36957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564260" y="36957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436941" y="36957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0309621" y="36957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g3f8b2a60e92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g3f8b2a60e92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50" y="2284175"/>
            <a:ext cx="5357799" cy="400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g3f8b2a60e92_0_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800" y="2321100"/>
            <a:ext cx="5357799" cy="400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f8b2a60e92_0_71"/>
          <p:cNvSpPr txBox="1"/>
          <p:nvPr/>
        </p:nvSpPr>
        <p:spPr>
          <a:xfrm>
            <a:off x="866775" y="2719387"/>
            <a:ext cx="5005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FACTORES Facilitadores</a:t>
            </a:r>
            <a:endParaRPr sz="1800"/>
          </a:p>
        </p:txBody>
      </p:sp>
      <p:sp>
        <p:nvSpPr>
          <p:cNvPr id="274" name="Google Shape;274;g3f8b2a60e92_0_71"/>
          <p:cNvSpPr txBox="1"/>
          <p:nvPr/>
        </p:nvSpPr>
        <p:spPr>
          <a:xfrm>
            <a:off x="866775" y="3332512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Maqueta HTML Base: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Estructura visual y modelo de cotización inicial ya conceptualizados.</a:t>
            </a:r>
            <a:endParaRPr sz="2400"/>
          </a:p>
        </p:txBody>
      </p:sp>
      <p:sp>
        <p:nvSpPr>
          <p:cNvPr id="275" name="Google Shape;275;g3f8b2a60e92_0_71"/>
          <p:cNvSpPr txBox="1"/>
          <p:nvPr/>
        </p:nvSpPr>
        <p:spPr>
          <a:xfrm>
            <a:off x="866775" y="4126087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Ecosistema Django + Kotlin: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Alta compatibilidad y abundante documentación técnica para integración REST.</a:t>
            </a:r>
            <a:endParaRPr sz="2500"/>
          </a:p>
        </p:txBody>
      </p:sp>
      <p:sp>
        <p:nvSpPr>
          <p:cNvPr id="276" name="Google Shape;276;g3f8b2a60e92_0_71"/>
          <p:cNvSpPr txBox="1"/>
          <p:nvPr/>
        </p:nvSpPr>
        <p:spPr>
          <a:xfrm>
            <a:off x="866775" y="5289262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Impacto Operativo Directo: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Solución a un dolor real de la empresa Manuel Arellano con validación rápida.</a:t>
            </a:r>
            <a:endParaRPr sz="2400"/>
          </a:p>
        </p:txBody>
      </p:sp>
      <p:sp>
        <p:nvSpPr>
          <p:cNvPr id="277" name="Google Shape;277;g3f8b2a60e92_0_71"/>
          <p:cNvSpPr txBox="1"/>
          <p:nvPr/>
        </p:nvSpPr>
        <p:spPr>
          <a:xfrm>
            <a:off x="6557962" y="2719387"/>
            <a:ext cx="5005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Riesgos y Mitigación</a:t>
            </a:r>
            <a:endParaRPr sz="1800"/>
          </a:p>
        </p:txBody>
      </p:sp>
      <p:sp>
        <p:nvSpPr>
          <p:cNvPr id="278" name="Google Shape;278;g3f8b2a60e92_0_71"/>
          <p:cNvSpPr txBox="1"/>
          <p:nvPr/>
        </p:nvSpPr>
        <p:spPr>
          <a:xfrm>
            <a:off x="6557962" y="3148012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Complejidad Multiplataforma: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mitigará implementando primero el backend robusto y consumiendo progresivamente.</a:t>
            </a:r>
            <a:endParaRPr sz="2200"/>
          </a:p>
        </p:txBody>
      </p:sp>
      <p:sp>
        <p:nvSpPr>
          <p:cNvPr id="279" name="Google Shape;279;g3f8b2a60e92_0_71"/>
          <p:cNvSpPr txBox="1"/>
          <p:nvPr/>
        </p:nvSpPr>
        <p:spPr>
          <a:xfrm>
            <a:off x="6557962" y="4345850"/>
            <a:ext cx="4767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Cálculos de Precios en Terreno: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Centralización de fórmulas en Django para evitar discrepancias entre Web y App.</a:t>
            </a:r>
            <a:endParaRPr sz="2200"/>
          </a:p>
        </p:txBody>
      </p:sp>
      <p:sp>
        <p:nvSpPr>
          <p:cNvPr id="280" name="Google Shape;280;g3f8b2a60e92_0_71"/>
          <p:cNvSpPr txBox="1"/>
          <p:nvPr/>
        </p:nvSpPr>
        <p:spPr>
          <a:xfrm>
            <a:off x="6557962" y="5543687"/>
            <a:ext cx="47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 de Plazos: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Priorización por metodología incremental con sprints definidos.</a:t>
            </a:r>
            <a:endParaRPr sz="2200"/>
          </a:p>
        </p:txBody>
      </p:sp>
      <p:pic>
        <p:nvPicPr>
          <p:cNvPr descr="image.png" id="281" name="Google Shape;281;g3f8b2a60e92_0_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7962" y="276701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8b2a60e92_0_71"/>
          <p:cNvSpPr txBox="1"/>
          <p:nvPr/>
        </p:nvSpPr>
        <p:spPr>
          <a:xfrm>
            <a:off x="571500" y="476250"/>
            <a:ext cx="11601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Alcance Funcional por Perfil</a:t>
            </a:r>
            <a:endParaRPr sz="2200"/>
          </a:p>
        </p:txBody>
      </p:sp>
      <p:sp>
        <p:nvSpPr>
          <p:cNvPr id="283" name="Google Shape;283;g3f8b2a60e92_0_71"/>
          <p:cNvSpPr/>
          <p:nvPr/>
        </p:nvSpPr>
        <p:spPr>
          <a:xfrm>
            <a:off x="5810250" y="70008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4" name="Google Shape;284;g3f8b2a60e92_0_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67012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2400" y="2019300"/>
            <a:ext cx="6473200" cy="12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 txBox="1"/>
          <p:nvPr/>
        </p:nvSpPr>
        <p:spPr>
          <a:xfrm>
            <a:off x="295275" y="476250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¿Preguntas o </a:t>
            </a:r>
            <a:r>
              <a:rPr b="1" i="0" lang="en-US" sz="4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Comentarios</a:t>
            </a:r>
            <a:r>
              <a:rPr b="1" i="0" lang="en-US" sz="4350" u="none" cap="none" strike="noStrike">
                <a:solidFill>
                  <a:srgbClr val="0F2B48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571500" y="1447800"/>
            <a:ext cx="1104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Ecosistema Digital de Cotización y Gestión · Ventanas y Espejos Manuel Arellano</a:t>
            </a:r>
            <a:endParaRPr sz="1800"/>
          </a:p>
        </p:txBody>
      </p:sp>
      <p:sp>
        <p:nvSpPr>
          <p:cNvPr id="293" name="Google Shape;293;p12"/>
          <p:cNvSpPr txBox="1"/>
          <p:nvPr/>
        </p:nvSpPr>
        <p:spPr>
          <a:xfrm>
            <a:off x="3181600" y="2219325"/>
            <a:ext cx="60909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Maximiliano Andrés Leiva Rozas · Martin Ignacio Carriel </a:t>
            </a:r>
            <a:r>
              <a:rPr b="1" i="0" lang="en-US" sz="1550" u="none" cap="none" strike="noStrike">
                <a:solidFill>
                  <a:srgbClr val="0F2B48"/>
                </a:solidFill>
                <a:latin typeface="Lato"/>
                <a:ea typeface="Lato"/>
                <a:cs typeface="Lato"/>
                <a:sym typeface="Lato"/>
              </a:rPr>
              <a:t>Galaz</a:t>
            </a:r>
            <a:endParaRPr sz="1600"/>
          </a:p>
        </p:txBody>
      </p:sp>
      <p:sp>
        <p:nvSpPr>
          <p:cNvPr id="294" name="Google Shape;294;p12"/>
          <p:cNvSpPr txBox="1"/>
          <p:nvPr/>
        </p:nvSpPr>
        <p:spPr>
          <a:xfrm>
            <a:off x="3752850" y="2533650"/>
            <a:ext cx="46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Ingeniería en Informática · Duoc UC, Sede Plaza Norte · Capstone </a:t>
            </a:r>
            <a:r>
              <a:rPr lang="en-US" sz="15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PTY 4614-004D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